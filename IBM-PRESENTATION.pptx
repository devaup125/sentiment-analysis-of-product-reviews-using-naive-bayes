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8" r:id="rId9"/>
  </p:sldIdLst>
  <p:sldSz cx="18288000" cy="10287000"/>
  <p:notesSz cx="6858000" cy="9144000"/>
  <p:embeddedFontLst>
    <p:embeddedFont>
      <p:font typeface="Arial Narrow" panose="020B0606020202030204" pitchFamily="34" charset="0"/>
      <p:regular r:id="rId11"/>
      <p:bold r:id="rId12"/>
      <p:italic r:id="rId13"/>
      <p:boldItalic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TT Lakes Neue" panose="020B0604020202020204" charset="0"/>
      <p:regular r:id="rId19"/>
    </p:embeddedFont>
    <p:embeddedFont>
      <p:font typeface="Bernard MT Condensed" panose="02050806060905020404" pitchFamily="18" charset="0"/>
      <p:regular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  <p:embeddedFont>
      <p:font typeface="TT Octosquares Bold" panose="020B0604020202020204" charset="0"/>
      <p:regular r:id="rId25"/>
    </p:embeddedFont>
    <p:embeddedFont>
      <p:font typeface="TT Lakes Neue Italics" panose="020B0604020202020204" charset="0"/>
      <p:regular r:id="rId26"/>
    </p:embeddedFont>
    <p:embeddedFont>
      <p:font typeface="Wingdings 3" panose="05040102010807070707" pitchFamily="18" charset="2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340A6-92C6-4D18-AB3A-46A3F1D06A05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413DE-BB18-49FC-AFD8-372B2000F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456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413DE-BB18-49FC-AFD8-372B2000F5F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178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3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92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0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6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76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71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6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63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81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4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0029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41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5471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42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69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3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12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Relationship Id="rId9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2.png"/><Relationship Id="rId7" Type="http://schemas.openxmlformats.org/officeDocument/2006/relationships/image" Target="../media/image10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0" Type="http://schemas.openxmlformats.org/officeDocument/2006/relationships/image" Target="../media/image14.jpeg"/><Relationship Id="rId9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730511" y="837628"/>
            <a:ext cx="12826977" cy="9631893"/>
          </a:xfrm>
          <a:custGeom>
            <a:avLst/>
            <a:gdLst/>
            <a:ahLst/>
            <a:cxnLst/>
            <a:rect l="l" t="t" r="r" b="b"/>
            <a:pathLst>
              <a:path w="12826977" h="9631893">
                <a:moveTo>
                  <a:pt x="0" y="0"/>
                </a:moveTo>
                <a:lnTo>
                  <a:pt x="12826977" y="0"/>
                </a:lnTo>
                <a:lnTo>
                  <a:pt x="12826977" y="9631894"/>
                </a:lnTo>
                <a:lnTo>
                  <a:pt x="0" y="9631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47058" y="194330"/>
            <a:ext cx="2993982" cy="3095283"/>
          </a:xfrm>
          <a:custGeom>
            <a:avLst/>
            <a:gdLst/>
            <a:ahLst/>
            <a:cxnLst/>
            <a:rect l="l" t="t" r="r" b="b"/>
            <a:pathLst>
              <a:path w="2993982" h="3095283">
                <a:moveTo>
                  <a:pt x="0" y="0"/>
                </a:moveTo>
                <a:lnTo>
                  <a:pt x="2993983" y="0"/>
                </a:lnTo>
                <a:lnTo>
                  <a:pt x="2993983" y="3095283"/>
                </a:lnTo>
                <a:lnTo>
                  <a:pt x="0" y="3095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72412" y="7191717"/>
            <a:ext cx="2993982" cy="3095283"/>
          </a:xfrm>
          <a:custGeom>
            <a:avLst/>
            <a:gdLst/>
            <a:ahLst/>
            <a:cxnLst/>
            <a:rect l="l" t="t" r="r" b="b"/>
            <a:pathLst>
              <a:path w="2993982" h="3095283">
                <a:moveTo>
                  <a:pt x="0" y="0"/>
                </a:moveTo>
                <a:lnTo>
                  <a:pt x="2993982" y="0"/>
                </a:lnTo>
                <a:lnTo>
                  <a:pt x="2993982" y="3095283"/>
                </a:lnTo>
                <a:lnTo>
                  <a:pt x="0" y="3095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515599" y="2418768"/>
            <a:ext cx="635143" cy="635143"/>
          </a:xfrm>
          <a:custGeom>
            <a:avLst/>
            <a:gdLst/>
            <a:ahLst/>
            <a:cxnLst/>
            <a:rect l="l" t="t" r="r" b="b"/>
            <a:pathLst>
              <a:path w="635143" h="635143">
                <a:moveTo>
                  <a:pt x="0" y="0"/>
                </a:moveTo>
                <a:lnTo>
                  <a:pt x="635143" y="0"/>
                </a:lnTo>
                <a:lnTo>
                  <a:pt x="635143" y="635143"/>
                </a:lnTo>
                <a:lnTo>
                  <a:pt x="0" y="6351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54848" y="3254731"/>
            <a:ext cx="10778304" cy="2511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36"/>
              </a:lnSpc>
            </a:pPr>
            <a:r>
              <a:rPr lang="en-US" sz="8861" b="1" dirty="0">
                <a:solidFill>
                  <a:srgbClr val="AFE1EA"/>
                </a:solidFill>
                <a:latin typeface="TT Octosquares Bold"/>
                <a:ea typeface="TT Octosquares Bold"/>
                <a:cs typeface="TT Octosquares Bold"/>
                <a:sym typeface="TT Octosquares Bold"/>
              </a:rPr>
              <a:t>ARTIFICIAL INTELLIGENCE</a:t>
            </a:r>
          </a:p>
        </p:txBody>
      </p:sp>
      <p:sp>
        <p:nvSpPr>
          <p:cNvPr id="8" name="Freeform 8"/>
          <p:cNvSpPr/>
          <p:nvPr/>
        </p:nvSpPr>
        <p:spPr>
          <a:xfrm>
            <a:off x="4859237" y="6566412"/>
            <a:ext cx="8848447" cy="530723"/>
          </a:xfrm>
          <a:custGeom>
            <a:avLst/>
            <a:gdLst/>
            <a:ahLst/>
            <a:cxnLst/>
            <a:rect l="l" t="t" r="r" b="b"/>
            <a:pathLst>
              <a:path w="5212458" h="530723">
                <a:moveTo>
                  <a:pt x="0" y="0"/>
                </a:moveTo>
                <a:lnTo>
                  <a:pt x="5212458" y="0"/>
                </a:lnTo>
                <a:lnTo>
                  <a:pt x="5212458" y="530723"/>
                </a:lnTo>
                <a:lnTo>
                  <a:pt x="0" y="5307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341408" y="2649372"/>
            <a:ext cx="2568278" cy="37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  <a:spcBef>
                <a:spcPct val="0"/>
              </a:spcBef>
            </a:pPr>
            <a:r>
              <a:rPr lang="en-US" sz="3600" b="1" dirty="0" smtClean="0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IBM</a:t>
            </a:r>
            <a:endParaRPr lang="en-US" sz="3600" b="1" dirty="0">
              <a:solidFill>
                <a:srgbClr val="AFE1EA"/>
              </a:solidFill>
              <a:latin typeface="TT Lakes Neue"/>
              <a:ea typeface="TT Lakes Neue"/>
              <a:cs typeface="TT Lakes Neue"/>
              <a:sym typeface="TT Lakes Neu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91949" y="5860986"/>
            <a:ext cx="7236233" cy="30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2333" i="1" dirty="0">
                <a:solidFill>
                  <a:srgbClr val="AFE1EA"/>
                </a:solidFill>
                <a:latin typeface="TT Lakes Neue Italics"/>
                <a:ea typeface="TT Lakes Neue Italics"/>
                <a:cs typeface="TT Lakes Neue Italics"/>
                <a:sym typeface="TT Lakes Neue Italics"/>
              </a:rPr>
              <a:t>Exploring innovative AI solutions for the future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42860" y="6730133"/>
            <a:ext cx="7085322" cy="289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  <a:spcBef>
                <a:spcPct val="0"/>
              </a:spcBef>
            </a:pPr>
            <a:r>
              <a:rPr lang="en-GB" sz="2035" b="1" dirty="0">
                <a:solidFill>
                  <a:srgbClr val="000000"/>
                </a:solidFill>
                <a:latin typeface="TT Lakes Neue"/>
                <a:ea typeface="TT Lakes Neue"/>
                <a:cs typeface="TT Lakes Neue"/>
                <a:sym typeface="TT Lakes Neue"/>
              </a:rPr>
              <a:t>Sentiment Analysis of Product Reviews using Naive Bayes</a:t>
            </a:r>
            <a:endParaRPr lang="en-US" sz="2035" b="1" dirty="0">
              <a:solidFill>
                <a:srgbClr val="000000"/>
              </a:solidFill>
              <a:latin typeface="TT Lakes Neue"/>
              <a:ea typeface="TT Lakes Neue"/>
              <a:cs typeface="TT Lakes Neue"/>
              <a:sym typeface="TT Lakes Neue"/>
            </a:endParaRPr>
          </a:p>
        </p:txBody>
      </p:sp>
      <p:sp>
        <p:nvSpPr>
          <p:cNvPr id="12" name="TextBox 12"/>
          <p:cNvSpPr txBox="1"/>
          <p:nvPr/>
        </p:nvSpPr>
        <p:spPr>
          <a:xfrm rot="5400000">
            <a:off x="17191359" y="1440223"/>
            <a:ext cx="1030504" cy="20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  <a:spcBef>
                <a:spcPct val="0"/>
              </a:spcBef>
            </a:pPr>
            <a:r>
              <a:rPr lang="en-US" sz="1525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9600" y="7949029"/>
            <a:ext cx="4988760" cy="74303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latin typeface="Arial Narrow" panose="020B0606020202030204" pitchFamily="34" charset="0"/>
              </a:rPr>
              <a:t>Name - Devanshu </a:t>
            </a:r>
            <a:r>
              <a:rPr lang="en-GB" b="1" dirty="0" err="1" smtClean="0">
                <a:latin typeface="Arial Narrow" panose="020B0606020202030204" pitchFamily="34" charset="0"/>
              </a:rPr>
              <a:t>Ranjan</a:t>
            </a:r>
            <a:r>
              <a:rPr lang="en-GB" b="1" dirty="0" smtClean="0">
                <a:latin typeface="Arial Narrow" panose="020B0606020202030204" pitchFamily="34" charset="0"/>
              </a:rPr>
              <a:t> Upadhyay</a:t>
            </a:r>
            <a:endParaRPr lang="en-IN" b="1" dirty="0" smtClean="0">
              <a:latin typeface="Arial Narrow" panose="020B0606020202030204" pitchFamily="34" charset="0"/>
            </a:endParaRPr>
          </a:p>
          <a:p>
            <a:pPr algn="ctr"/>
            <a:r>
              <a:rPr lang="en-GB" b="1" dirty="0" smtClean="0">
                <a:latin typeface="Arial Narrow" panose="020B0606020202030204" pitchFamily="34" charset="0"/>
              </a:rPr>
              <a:t>       Under Supervision – Mr </a:t>
            </a:r>
            <a:r>
              <a:rPr lang="en-GB" b="1" dirty="0" err="1" smtClean="0">
                <a:latin typeface="Arial Narrow" panose="020B0606020202030204" pitchFamily="34" charset="0"/>
              </a:rPr>
              <a:t>Abhishek</a:t>
            </a:r>
            <a:r>
              <a:rPr lang="en-GB" b="1" dirty="0" smtClean="0">
                <a:latin typeface="Arial Narrow" panose="020B0606020202030204" pitchFamily="34" charset="0"/>
              </a:rPr>
              <a:t> Singh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44057" y="7949029"/>
            <a:ext cx="4988760" cy="74303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latin typeface="Arial Narrow" panose="020B0606020202030204" pitchFamily="34" charset="0"/>
              </a:rPr>
              <a:t>Date : 26 September 2025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11675" y="310785"/>
            <a:ext cx="16179533" cy="12149359"/>
          </a:xfrm>
          <a:custGeom>
            <a:avLst/>
            <a:gdLst/>
            <a:ahLst/>
            <a:cxnLst/>
            <a:rect l="l" t="t" r="r" b="b"/>
            <a:pathLst>
              <a:path w="16179533" h="12149359">
                <a:moveTo>
                  <a:pt x="0" y="0"/>
                </a:moveTo>
                <a:lnTo>
                  <a:pt x="16179533" y="0"/>
                </a:lnTo>
                <a:lnTo>
                  <a:pt x="16179533" y="12149359"/>
                </a:lnTo>
                <a:lnTo>
                  <a:pt x="0" y="1214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33058" y="3273118"/>
            <a:ext cx="4887880" cy="5053259"/>
          </a:xfrm>
          <a:custGeom>
            <a:avLst/>
            <a:gdLst/>
            <a:ahLst/>
            <a:cxnLst/>
            <a:rect l="l" t="t" r="r" b="b"/>
            <a:pathLst>
              <a:path w="4887880" h="5053259">
                <a:moveTo>
                  <a:pt x="0" y="0"/>
                </a:moveTo>
                <a:lnTo>
                  <a:pt x="4887879" y="0"/>
                </a:lnTo>
                <a:lnTo>
                  <a:pt x="4887879" y="5053259"/>
                </a:lnTo>
                <a:lnTo>
                  <a:pt x="0" y="50532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765466" y="2212213"/>
            <a:ext cx="635143" cy="635143"/>
          </a:xfrm>
          <a:custGeom>
            <a:avLst/>
            <a:gdLst/>
            <a:ahLst/>
            <a:cxnLst/>
            <a:rect l="l" t="t" r="r" b="b"/>
            <a:pathLst>
              <a:path w="635143" h="635143">
                <a:moveTo>
                  <a:pt x="0" y="0"/>
                </a:moveTo>
                <a:lnTo>
                  <a:pt x="635143" y="0"/>
                </a:lnTo>
                <a:lnTo>
                  <a:pt x="635143" y="635143"/>
                </a:lnTo>
                <a:lnTo>
                  <a:pt x="0" y="6351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771047" y="3775534"/>
            <a:ext cx="3836575" cy="3836575"/>
            <a:chOff x="0" y="0"/>
            <a:chExt cx="14840029" cy="14840029"/>
          </a:xfrm>
        </p:grpSpPr>
        <p:sp>
          <p:nvSpPr>
            <p:cNvPr id="7" name="Freeform 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AFE1EA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9"/>
              <a:stretch>
                <a:fillRect l="-24572" r="-2457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663002" y="2490520"/>
            <a:ext cx="2813806" cy="37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  <a:spcBef>
                <a:spcPct val="0"/>
              </a:spcBef>
            </a:pPr>
            <a:r>
              <a:rPr lang="en-US" sz="3600" b="1" dirty="0" smtClean="0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IBM</a:t>
            </a:r>
            <a:endParaRPr lang="en-US" sz="3600" b="1" dirty="0">
              <a:solidFill>
                <a:srgbClr val="AFE1EA"/>
              </a:solidFill>
              <a:latin typeface="TT Lakes Neue"/>
              <a:ea typeface="TT Lakes Neue"/>
              <a:cs typeface="TT Lakes Neue"/>
              <a:sym typeface="TT Lakes Neue"/>
            </a:endParaRPr>
          </a:p>
        </p:txBody>
      </p:sp>
      <p:sp>
        <p:nvSpPr>
          <p:cNvPr id="12" name="TextBox 12"/>
          <p:cNvSpPr txBox="1"/>
          <p:nvPr/>
        </p:nvSpPr>
        <p:spPr>
          <a:xfrm rot="5400000">
            <a:off x="17191359" y="1440223"/>
            <a:ext cx="1030504" cy="20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  <a:spcBef>
                <a:spcPct val="0"/>
              </a:spcBef>
            </a:pPr>
            <a:r>
              <a:rPr lang="en-US" sz="1525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22913" y="3158141"/>
            <a:ext cx="7098055" cy="849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77"/>
              </a:lnSpc>
            </a:pPr>
            <a:r>
              <a:rPr lang="en-US" sz="5836" b="1" dirty="0">
                <a:solidFill>
                  <a:srgbClr val="AFE1EA"/>
                </a:solidFill>
                <a:latin typeface="TT Octosquares Bold"/>
                <a:ea typeface="TT Octosquares Bold"/>
                <a:cs typeface="TT Octosquares Bold"/>
                <a:sym typeface="TT Octosquares Bold"/>
              </a:rPr>
              <a:t>Project Overview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037" y="4264353"/>
            <a:ext cx="7391400" cy="51816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lang="en-GB" sz="3200" b="1" dirty="0">
                <a:solidFill>
                  <a:srgbClr val="FFFF00"/>
                </a:solidFill>
                <a:latin typeface="fkGroteskNeue"/>
              </a:rPr>
              <a:t>Purpose: </a:t>
            </a:r>
            <a:r>
              <a:rPr lang="en-GB" sz="3200" b="1" dirty="0" err="1">
                <a:latin typeface="fkGroteskNeue"/>
              </a:rPr>
              <a:t>Analyze</a:t>
            </a:r>
            <a:r>
              <a:rPr lang="en-GB" sz="3200" b="1" dirty="0">
                <a:latin typeface="fkGroteskNeue"/>
              </a:rPr>
              <a:t> and classify product reviews as </a:t>
            </a:r>
            <a:r>
              <a:rPr lang="en-GB" sz="3200" b="1" dirty="0" smtClean="0">
                <a:latin typeface="fkGroteskNeue"/>
              </a:rPr>
              <a:t>    Positive</a:t>
            </a:r>
            <a:r>
              <a:rPr lang="en-GB" sz="3200" b="1" dirty="0">
                <a:latin typeface="fkGroteskNeue"/>
              </a:rPr>
              <a:t>, Negative, or Neutral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3200" b="1" dirty="0">
                <a:solidFill>
                  <a:srgbClr val="FFFF00"/>
                </a:solidFill>
                <a:latin typeface="fkGroteskNeue"/>
              </a:rPr>
              <a:t>Key Features: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b="1" dirty="0">
                <a:latin typeface="fkGroteskNeue"/>
              </a:rPr>
              <a:t>User-friendly </a:t>
            </a:r>
            <a:r>
              <a:rPr lang="en-GB" sz="3200" b="1" dirty="0" err="1">
                <a:latin typeface="fkGroteskNeue"/>
              </a:rPr>
              <a:t>Tkinter</a:t>
            </a:r>
            <a:r>
              <a:rPr lang="en-GB" sz="3200" b="1" dirty="0">
                <a:latin typeface="fkGroteskNeue"/>
              </a:rPr>
              <a:t> GUI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b="1" dirty="0">
                <a:latin typeface="fkGroteskNeue"/>
              </a:rPr>
              <a:t>Real-time sentiment 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3200" b="1" dirty="0">
                <a:latin typeface="fkGroteskNeue"/>
              </a:rPr>
              <a:t>Visual feedback with emoji and color-coded sentiment</a:t>
            </a:r>
            <a:endParaRPr lang="en-GB" sz="3200" b="1" i="0" dirty="0">
              <a:effectLst/>
              <a:latin typeface="fkGroteskNeue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609" y="-1194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316452" y="873758"/>
            <a:ext cx="5308039" cy="5487634"/>
          </a:xfrm>
          <a:custGeom>
            <a:avLst/>
            <a:gdLst/>
            <a:ahLst/>
            <a:cxnLst/>
            <a:rect l="l" t="t" r="r" b="b"/>
            <a:pathLst>
              <a:path w="5308039" h="5487634">
                <a:moveTo>
                  <a:pt x="0" y="0"/>
                </a:moveTo>
                <a:lnTo>
                  <a:pt x="5308039" y="0"/>
                </a:lnTo>
                <a:lnTo>
                  <a:pt x="5308039" y="5487635"/>
                </a:lnTo>
                <a:lnTo>
                  <a:pt x="0" y="5487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01199" y="1023013"/>
            <a:ext cx="635143" cy="635143"/>
          </a:xfrm>
          <a:custGeom>
            <a:avLst/>
            <a:gdLst/>
            <a:ahLst/>
            <a:cxnLst/>
            <a:rect l="l" t="t" r="r" b="b"/>
            <a:pathLst>
              <a:path w="635143" h="635143">
                <a:moveTo>
                  <a:pt x="0" y="0"/>
                </a:moveTo>
                <a:lnTo>
                  <a:pt x="635143" y="0"/>
                </a:lnTo>
                <a:lnTo>
                  <a:pt x="635143" y="635143"/>
                </a:lnTo>
                <a:lnTo>
                  <a:pt x="0" y="6351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3107222" y="1416023"/>
            <a:ext cx="4166365" cy="4166365"/>
            <a:chOff x="0" y="0"/>
            <a:chExt cx="14840029" cy="14840029"/>
          </a:xfrm>
        </p:grpSpPr>
        <p:sp>
          <p:nvSpPr>
            <p:cNvPr id="7" name="Freeform 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AFE1EA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9"/>
              <a:stretch>
                <a:fillRect l="-24618" r="-24618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543800" y="1234243"/>
            <a:ext cx="2461548" cy="36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IBM</a:t>
            </a:r>
            <a:endParaRPr lang="en-US" sz="3200" b="1" dirty="0">
              <a:solidFill>
                <a:srgbClr val="AFE1EA"/>
              </a:solidFill>
              <a:latin typeface="TT Lakes Neue"/>
              <a:ea typeface="TT Lakes Neue"/>
              <a:cs typeface="TT Lakes Neue"/>
              <a:sym typeface="TT Lakes Neue"/>
            </a:endParaRPr>
          </a:p>
        </p:txBody>
      </p:sp>
      <p:sp>
        <p:nvSpPr>
          <p:cNvPr id="11" name="TextBox 11"/>
          <p:cNvSpPr txBox="1"/>
          <p:nvPr/>
        </p:nvSpPr>
        <p:spPr>
          <a:xfrm rot="5400000">
            <a:off x="17212968" y="1428281"/>
            <a:ext cx="1030504" cy="20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  <a:spcBef>
                <a:spcPct val="0"/>
              </a:spcBef>
            </a:pPr>
            <a:r>
              <a:rPr lang="en-US" sz="1525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60315" y="2010299"/>
            <a:ext cx="8443482" cy="849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77"/>
              </a:lnSpc>
            </a:pPr>
            <a:r>
              <a:rPr lang="en-US" sz="6600" dirty="0">
                <a:solidFill>
                  <a:srgbClr val="AFE1EA"/>
                </a:solidFill>
                <a:latin typeface="TT Octosquares Bold"/>
                <a:ea typeface="TT Octosquares Bold"/>
                <a:cs typeface="TT Octosquares Bold"/>
                <a:sym typeface="TT Octosquares Bold"/>
              </a:rPr>
              <a:t>Technology Stack</a:t>
            </a:r>
          </a:p>
        </p:txBody>
      </p:sp>
      <p:sp>
        <p:nvSpPr>
          <p:cNvPr id="18" name="Freeform 18"/>
          <p:cNvSpPr/>
          <p:nvPr/>
        </p:nvSpPr>
        <p:spPr>
          <a:xfrm>
            <a:off x="2560315" y="5319546"/>
            <a:ext cx="417180" cy="431296"/>
          </a:xfrm>
          <a:custGeom>
            <a:avLst/>
            <a:gdLst/>
            <a:ahLst/>
            <a:cxnLst/>
            <a:rect l="l" t="t" r="r" b="b"/>
            <a:pathLst>
              <a:path w="417180" h="431296">
                <a:moveTo>
                  <a:pt x="0" y="0"/>
                </a:moveTo>
                <a:lnTo>
                  <a:pt x="417180" y="0"/>
                </a:lnTo>
                <a:lnTo>
                  <a:pt x="417180" y="431295"/>
                </a:lnTo>
                <a:lnTo>
                  <a:pt x="0" y="4312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560315" y="6999766"/>
            <a:ext cx="417180" cy="431296"/>
          </a:xfrm>
          <a:custGeom>
            <a:avLst/>
            <a:gdLst/>
            <a:ahLst/>
            <a:cxnLst/>
            <a:rect l="l" t="t" r="r" b="b"/>
            <a:pathLst>
              <a:path w="417180" h="431296">
                <a:moveTo>
                  <a:pt x="0" y="0"/>
                </a:moveTo>
                <a:lnTo>
                  <a:pt x="417180" y="0"/>
                </a:lnTo>
                <a:lnTo>
                  <a:pt x="417180" y="431296"/>
                </a:lnTo>
                <a:lnTo>
                  <a:pt x="0" y="43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0" name="Rounded Rectangle 29"/>
          <p:cNvSpPr/>
          <p:nvPr/>
        </p:nvSpPr>
        <p:spPr>
          <a:xfrm>
            <a:off x="1902595" y="3302589"/>
            <a:ext cx="10206399" cy="5758672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GB" sz="3600" dirty="0" smtClean="0">
                <a:solidFill>
                  <a:srgbClr val="FFFF00"/>
                </a:solidFill>
              </a:rPr>
              <a:t>Python Libraries: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3600" dirty="0" err="1" smtClean="0">
                <a:solidFill>
                  <a:schemeClr val="bg2"/>
                </a:solidFill>
              </a:rPr>
              <a:t>Tkinter</a:t>
            </a:r>
            <a:r>
              <a:rPr lang="en-GB" sz="3600" dirty="0" smtClean="0">
                <a:solidFill>
                  <a:schemeClr val="bg2"/>
                </a:solidFill>
              </a:rPr>
              <a:t> and </a:t>
            </a:r>
            <a:r>
              <a:rPr lang="en-GB" sz="3600" dirty="0" err="1" smtClean="0">
                <a:solidFill>
                  <a:schemeClr val="bg2"/>
                </a:solidFill>
              </a:rPr>
              <a:t>ttk</a:t>
            </a:r>
            <a:r>
              <a:rPr lang="en-GB" sz="3600" dirty="0" smtClean="0">
                <a:solidFill>
                  <a:schemeClr val="bg2"/>
                </a:solidFill>
              </a:rPr>
              <a:t> for GUI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3600" dirty="0" smtClean="0">
                <a:solidFill>
                  <a:schemeClr val="bg2"/>
                </a:solidFill>
              </a:rPr>
              <a:t>Pandas for data handling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3600" dirty="0" err="1" smtClean="0">
                <a:solidFill>
                  <a:schemeClr val="bg2"/>
                </a:solidFill>
              </a:rPr>
              <a:t>Sklearn</a:t>
            </a:r>
            <a:r>
              <a:rPr lang="en-GB" sz="3600" dirty="0" smtClean="0">
                <a:solidFill>
                  <a:schemeClr val="bg2"/>
                </a:solidFill>
              </a:rPr>
              <a:t> for machine learning (</a:t>
            </a:r>
            <a:r>
              <a:rPr lang="en-GB" sz="3600" dirty="0" err="1" smtClean="0">
                <a:solidFill>
                  <a:schemeClr val="bg2"/>
                </a:solidFill>
              </a:rPr>
              <a:t>CountVectorizer</a:t>
            </a:r>
            <a:r>
              <a:rPr lang="en-GB" sz="3600" dirty="0" smtClean="0">
                <a:solidFill>
                  <a:schemeClr val="bg2"/>
                </a:solidFill>
              </a:rPr>
              <a:t>, </a:t>
            </a:r>
            <a:r>
              <a:rPr lang="en-GB" sz="3600" dirty="0" err="1" smtClean="0">
                <a:solidFill>
                  <a:schemeClr val="bg2"/>
                </a:solidFill>
              </a:rPr>
              <a:t>LabelEncoder,MultinomialNB</a:t>
            </a:r>
            <a:endParaRPr lang="en-GB" sz="3600" dirty="0" smtClean="0">
              <a:solidFill>
                <a:schemeClr val="bg2"/>
              </a:solidFill>
            </a:endParaRPr>
          </a:p>
          <a:p>
            <a:r>
              <a:rPr lang="en-GB" sz="3600" dirty="0" smtClean="0">
                <a:solidFill>
                  <a:srgbClr val="FFFF00"/>
                </a:solidFill>
              </a:rPr>
              <a:t>2.   Data : </a:t>
            </a:r>
            <a:r>
              <a:rPr lang="en-GB" sz="3600" dirty="0" smtClean="0">
                <a:solidFill>
                  <a:schemeClr val="bg1"/>
                </a:solidFill>
              </a:rPr>
              <a:t>CSV file containing </a:t>
            </a:r>
            <a:r>
              <a:rPr lang="en-GB" sz="3600" dirty="0" err="1" smtClean="0">
                <a:solidFill>
                  <a:schemeClr val="bg1"/>
                </a:solidFill>
              </a:rPr>
              <a:t>selected_text</a:t>
            </a:r>
            <a:r>
              <a:rPr lang="en-GB" sz="3600" dirty="0" smtClean="0">
                <a:solidFill>
                  <a:schemeClr val="bg1"/>
                </a:solidFill>
              </a:rPr>
              <a:t> and sentiment columns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0" y="-258687"/>
            <a:ext cx="65" cy="517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9025" rIns="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7281" y="885700"/>
            <a:ext cx="16179533" cy="12149359"/>
          </a:xfrm>
          <a:custGeom>
            <a:avLst/>
            <a:gdLst/>
            <a:ahLst/>
            <a:cxnLst/>
            <a:rect l="l" t="t" r="r" b="b"/>
            <a:pathLst>
              <a:path w="16179533" h="12149359">
                <a:moveTo>
                  <a:pt x="0" y="0"/>
                </a:moveTo>
                <a:lnTo>
                  <a:pt x="16179533" y="0"/>
                </a:lnTo>
                <a:lnTo>
                  <a:pt x="16179533" y="12149359"/>
                </a:lnTo>
                <a:lnTo>
                  <a:pt x="0" y="1214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14149" y="1637911"/>
            <a:ext cx="635143" cy="635143"/>
          </a:xfrm>
          <a:custGeom>
            <a:avLst/>
            <a:gdLst/>
            <a:ahLst/>
            <a:cxnLst/>
            <a:rect l="l" t="t" r="r" b="b"/>
            <a:pathLst>
              <a:path w="635143" h="635143">
                <a:moveTo>
                  <a:pt x="0" y="0"/>
                </a:moveTo>
                <a:lnTo>
                  <a:pt x="635143" y="0"/>
                </a:lnTo>
                <a:lnTo>
                  <a:pt x="635143" y="635143"/>
                </a:lnTo>
                <a:lnTo>
                  <a:pt x="0" y="635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609381" y="1882058"/>
            <a:ext cx="2945902" cy="33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  <a:spcBef>
                <a:spcPct val="0"/>
              </a:spcBef>
            </a:pPr>
            <a:r>
              <a:rPr lang="en-US" sz="2333" dirty="0" smtClean="0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IBM</a:t>
            </a:r>
            <a:endParaRPr lang="en-US" sz="2333" dirty="0">
              <a:solidFill>
                <a:srgbClr val="AFE1EA"/>
              </a:solidFill>
              <a:latin typeface="TT Lakes Neue"/>
              <a:ea typeface="TT Lakes Neue"/>
              <a:cs typeface="TT Lakes Neue"/>
              <a:sym typeface="TT Lakes Neue"/>
            </a:endParaRPr>
          </a:p>
        </p:txBody>
      </p:sp>
      <p:sp>
        <p:nvSpPr>
          <p:cNvPr id="6" name="TextBox 6"/>
          <p:cNvSpPr txBox="1"/>
          <p:nvPr/>
        </p:nvSpPr>
        <p:spPr>
          <a:xfrm rot="5400000">
            <a:off x="17191359" y="1440223"/>
            <a:ext cx="1030504" cy="20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  <a:spcBef>
                <a:spcPct val="0"/>
              </a:spcBef>
            </a:pPr>
            <a:r>
              <a:rPr lang="en-US" sz="1525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62300" y="2435850"/>
            <a:ext cx="119634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77"/>
              </a:lnSpc>
            </a:pPr>
            <a:r>
              <a:rPr lang="en-US" sz="5836" b="1" dirty="0">
                <a:solidFill>
                  <a:srgbClr val="AFE1EA"/>
                </a:solidFill>
                <a:latin typeface="TT Octosquares Bold"/>
                <a:ea typeface="TT Octosquares Bold"/>
                <a:cs typeface="TT Octosquares Bold"/>
                <a:sym typeface="TT Octosquares Bold"/>
              </a:rPr>
              <a:t>Machine Learning Workflow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30375" y="8870469"/>
            <a:ext cx="3238936" cy="27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  <a:spcBef>
                <a:spcPct val="0"/>
              </a:spcBef>
            </a:pPr>
            <a:r>
              <a:rPr lang="en-US" sz="2035">
                <a:solidFill>
                  <a:srgbClr val="000000"/>
                </a:solidFill>
                <a:latin typeface="TT Lakes Neue"/>
                <a:ea typeface="TT Lakes Neue"/>
                <a:cs typeface="TT Lakes Neue"/>
                <a:sym typeface="TT Lakes Neue"/>
              </a:rPr>
              <a:t>www.reallygreatsite.com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300" y="3269981"/>
            <a:ext cx="12376911" cy="65305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7281" y="885700"/>
            <a:ext cx="16179533" cy="12149359"/>
          </a:xfrm>
          <a:custGeom>
            <a:avLst/>
            <a:gdLst/>
            <a:ahLst/>
            <a:cxnLst/>
            <a:rect l="l" t="t" r="r" b="b"/>
            <a:pathLst>
              <a:path w="16179533" h="12149359">
                <a:moveTo>
                  <a:pt x="0" y="0"/>
                </a:moveTo>
                <a:lnTo>
                  <a:pt x="16179533" y="0"/>
                </a:lnTo>
                <a:lnTo>
                  <a:pt x="16179533" y="12149359"/>
                </a:lnTo>
                <a:lnTo>
                  <a:pt x="0" y="1214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976468"/>
            <a:ext cx="5308039" cy="5487634"/>
          </a:xfrm>
          <a:custGeom>
            <a:avLst/>
            <a:gdLst/>
            <a:ahLst/>
            <a:cxnLst/>
            <a:rect l="l" t="t" r="r" b="b"/>
            <a:pathLst>
              <a:path w="5308039" h="5487634">
                <a:moveTo>
                  <a:pt x="0" y="0"/>
                </a:moveTo>
                <a:lnTo>
                  <a:pt x="5308039" y="0"/>
                </a:lnTo>
                <a:lnTo>
                  <a:pt x="5308039" y="5487635"/>
                </a:lnTo>
                <a:lnTo>
                  <a:pt x="0" y="5487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765466" y="2212213"/>
            <a:ext cx="635143" cy="635143"/>
          </a:xfrm>
          <a:custGeom>
            <a:avLst/>
            <a:gdLst/>
            <a:ahLst/>
            <a:cxnLst/>
            <a:rect l="l" t="t" r="r" b="b"/>
            <a:pathLst>
              <a:path w="635143" h="635143">
                <a:moveTo>
                  <a:pt x="0" y="0"/>
                </a:moveTo>
                <a:lnTo>
                  <a:pt x="635143" y="0"/>
                </a:lnTo>
                <a:lnTo>
                  <a:pt x="635143" y="635143"/>
                </a:lnTo>
                <a:lnTo>
                  <a:pt x="0" y="6351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721531" y="3522072"/>
            <a:ext cx="4166365" cy="4166365"/>
            <a:chOff x="0" y="0"/>
            <a:chExt cx="14840029" cy="14840029"/>
          </a:xfrm>
        </p:grpSpPr>
        <p:sp>
          <p:nvSpPr>
            <p:cNvPr id="7" name="Freeform 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AFE1EA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9"/>
              <a:stretch>
                <a:fillRect l="223" t="-4574" r="223" b="-4579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591275" y="2394735"/>
            <a:ext cx="3224773" cy="33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  <a:spcBef>
                <a:spcPct val="0"/>
              </a:spcBef>
            </a:pPr>
            <a:r>
              <a:rPr lang="en-US" sz="2333" dirty="0" smtClean="0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IBM</a:t>
            </a:r>
            <a:endParaRPr lang="en-US" sz="2333" dirty="0">
              <a:solidFill>
                <a:srgbClr val="AFE1EA"/>
              </a:solidFill>
              <a:latin typeface="TT Lakes Neue"/>
              <a:ea typeface="TT Lakes Neue"/>
              <a:cs typeface="TT Lakes Neue"/>
              <a:sym typeface="TT Lakes Neue"/>
            </a:endParaRPr>
          </a:p>
        </p:txBody>
      </p:sp>
      <p:sp>
        <p:nvSpPr>
          <p:cNvPr id="11" name="TextBox 11"/>
          <p:cNvSpPr txBox="1"/>
          <p:nvPr/>
        </p:nvSpPr>
        <p:spPr>
          <a:xfrm rot="5400000">
            <a:off x="17191359" y="1440223"/>
            <a:ext cx="1030504" cy="20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  <a:spcBef>
                <a:spcPct val="0"/>
              </a:spcBef>
            </a:pPr>
            <a:r>
              <a:rPr lang="en-US" sz="1525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05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77471" y="3063610"/>
            <a:ext cx="9147716" cy="849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477"/>
              </a:lnSpc>
            </a:pPr>
            <a:r>
              <a:rPr lang="en-US" sz="5836" b="1" dirty="0" err="1">
                <a:solidFill>
                  <a:srgbClr val="AFE1EA"/>
                </a:solidFill>
                <a:latin typeface="TT Octosquares Bold"/>
                <a:ea typeface="TT Octosquares Bold"/>
                <a:cs typeface="TT Octosquares Bold"/>
                <a:sym typeface="TT Octosquares Bold"/>
              </a:rPr>
              <a:t>Tkinter</a:t>
            </a:r>
            <a:r>
              <a:rPr lang="en-US" sz="5836" b="1" dirty="0">
                <a:solidFill>
                  <a:srgbClr val="AFE1EA"/>
                </a:solidFill>
                <a:latin typeface="TT Octosquares Bold"/>
                <a:ea typeface="TT Octosquares Bold"/>
                <a:cs typeface="TT Octosquares Bold"/>
                <a:sym typeface="TT Octosquares Bold"/>
              </a:rPr>
              <a:t> GUI Design</a:t>
            </a:r>
          </a:p>
        </p:txBody>
      </p:sp>
      <p:sp>
        <p:nvSpPr>
          <p:cNvPr id="18" name="Freeform 18"/>
          <p:cNvSpPr/>
          <p:nvPr/>
        </p:nvSpPr>
        <p:spPr>
          <a:xfrm>
            <a:off x="6781028" y="4966044"/>
            <a:ext cx="417180" cy="431296"/>
          </a:xfrm>
          <a:custGeom>
            <a:avLst/>
            <a:gdLst/>
            <a:ahLst/>
            <a:cxnLst/>
            <a:rect l="l" t="t" r="r" b="b"/>
            <a:pathLst>
              <a:path w="417180" h="431296">
                <a:moveTo>
                  <a:pt x="0" y="0"/>
                </a:moveTo>
                <a:lnTo>
                  <a:pt x="417180" y="0"/>
                </a:lnTo>
                <a:lnTo>
                  <a:pt x="417180" y="431296"/>
                </a:lnTo>
                <a:lnTo>
                  <a:pt x="0" y="4312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781028" y="6646265"/>
            <a:ext cx="417180" cy="431296"/>
          </a:xfrm>
          <a:custGeom>
            <a:avLst/>
            <a:gdLst/>
            <a:ahLst/>
            <a:cxnLst/>
            <a:rect l="l" t="t" r="r" b="b"/>
            <a:pathLst>
              <a:path w="417180" h="431296">
                <a:moveTo>
                  <a:pt x="0" y="0"/>
                </a:moveTo>
                <a:lnTo>
                  <a:pt x="417180" y="0"/>
                </a:lnTo>
                <a:lnTo>
                  <a:pt x="417180" y="431295"/>
                </a:lnTo>
                <a:lnTo>
                  <a:pt x="0" y="4312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Rectangle 21"/>
          <p:cNvSpPr/>
          <p:nvPr/>
        </p:nvSpPr>
        <p:spPr>
          <a:xfrm>
            <a:off x="7356789" y="4266706"/>
            <a:ext cx="9144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3200" b="1" dirty="0">
                <a:solidFill>
                  <a:schemeClr val="bg1"/>
                </a:solidFill>
                <a:latin typeface="fkGroteskNeue"/>
              </a:rPr>
              <a:t>Main components:</a:t>
            </a: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rgbClr val="FFFF00"/>
                </a:solidFill>
                <a:latin typeface="fkGroteskNeue"/>
              </a:rPr>
              <a:t>Input Text Box for product reviews</a:t>
            </a: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GB" sz="3200" b="1" dirty="0" err="1">
                <a:solidFill>
                  <a:srgbClr val="FFFF00"/>
                </a:solidFill>
                <a:latin typeface="fkGroteskNeue"/>
              </a:rPr>
              <a:t>Analyze</a:t>
            </a:r>
            <a:r>
              <a:rPr lang="en-GB" sz="3200" b="1" dirty="0">
                <a:solidFill>
                  <a:srgbClr val="FFFF00"/>
                </a:solidFill>
                <a:latin typeface="fkGroteskNeue"/>
              </a:rPr>
              <a:t> and Reset buttons</a:t>
            </a: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rgbClr val="FFFF00"/>
                </a:solidFill>
                <a:latin typeface="fkGroteskNeue"/>
              </a:rPr>
              <a:t>Result display with emoji &amp; </a:t>
            </a:r>
            <a:r>
              <a:rPr lang="en-GB" sz="3200" b="1" dirty="0" err="1">
                <a:solidFill>
                  <a:srgbClr val="FFFF00"/>
                </a:solidFill>
                <a:latin typeface="fkGroteskNeue"/>
              </a:rPr>
              <a:t>color</a:t>
            </a:r>
            <a:endParaRPr lang="en-GB" sz="3200" b="1" dirty="0">
              <a:solidFill>
                <a:srgbClr val="FFFF00"/>
              </a:solidFill>
              <a:latin typeface="fkGroteskNeue"/>
            </a:endParaRP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rgbClr val="FFFF00"/>
                </a:solidFill>
                <a:latin typeface="fkGroteskNeue"/>
              </a:rPr>
              <a:t>Progress bar for processing feedback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b="1" dirty="0">
                <a:solidFill>
                  <a:schemeClr val="bg1"/>
                </a:solidFill>
                <a:latin typeface="fkGroteskNeue"/>
              </a:rPr>
              <a:t>User Experience: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rgbClr val="FFFF00"/>
                </a:solidFill>
                <a:latin typeface="fkGroteskNeue"/>
              </a:rPr>
              <a:t>Visual indicators, tooltips, and intuitive layout</a:t>
            </a:r>
            <a:endParaRPr lang="en-GB" sz="3200" b="1" i="0" dirty="0">
              <a:solidFill>
                <a:srgbClr val="FFFF00"/>
              </a:solidFill>
              <a:effectLst/>
              <a:latin typeface="fkGroteskNeue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" y="704849"/>
            <a:ext cx="16179533" cy="12149359"/>
          </a:xfrm>
          <a:custGeom>
            <a:avLst/>
            <a:gdLst/>
            <a:ahLst/>
            <a:cxnLst/>
            <a:rect l="l" t="t" r="r" b="b"/>
            <a:pathLst>
              <a:path w="16179533" h="12149359">
                <a:moveTo>
                  <a:pt x="0" y="0"/>
                </a:moveTo>
                <a:lnTo>
                  <a:pt x="16179533" y="0"/>
                </a:lnTo>
                <a:lnTo>
                  <a:pt x="16179533" y="12149359"/>
                </a:lnTo>
                <a:lnTo>
                  <a:pt x="0" y="1214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769187" y="1543952"/>
            <a:ext cx="635143" cy="635143"/>
          </a:xfrm>
          <a:custGeom>
            <a:avLst/>
            <a:gdLst/>
            <a:ahLst/>
            <a:cxnLst/>
            <a:rect l="l" t="t" r="r" b="b"/>
            <a:pathLst>
              <a:path w="635143" h="635143">
                <a:moveTo>
                  <a:pt x="0" y="0"/>
                </a:moveTo>
                <a:lnTo>
                  <a:pt x="635143" y="0"/>
                </a:lnTo>
                <a:lnTo>
                  <a:pt x="635143" y="635143"/>
                </a:lnTo>
                <a:lnTo>
                  <a:pt x="0" y="6351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610600" y="1672558"/>
            <a:ext cx="2769773" cy="33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  <a:spcBef>
                <a:spcPct val="0"/>
              </a:spcBef>
            </a:pPr>
            <a:r>
              <a:rPr lang="en-US" sz="2333" dirty="0" smtClean="0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IBM</a:t>
            </a:r>
            <a:endParaRPr lang="en-US" sz="2333" dirty="0">
              <a:solidFill>
                <a:srgbClr val="AFE1EA"/>
              </a:solidFill>
              <a:latin typeface="TT Lakes Neue"/>
              <a:ea typeface="TT Lakes Neue"/>
              <a:cs typeface="TT Lakes Neue"/>
              <a:sym typeface="TT Lakes Neue"/>
            </a:endParaRPr>
          </a:p>
        </p:txBody>
      </p:sp>
      <p:sp>
        <p:nvSpPr>
          <p:cNvPr id="17" name="TextBox 17"/>
          <p:cNvSpPr txBox="1"/>
          <p:nvPr/>
        </p:nvSpPr>
        <p:spPr>
          <a:xfrm rot="5400000">
            <a:off x="17191359" y="1440223"/>
            <a:ext cx="1030504" cy="20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  <a:spcBef>
                <a:spcPct val="0"/>
              </a:spcBef>
            </a:pPr>
            <a:r>
              <a:rPr lang="en-US" sz="1525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06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40157" y="2307917"/>
            <a:ext cx="867378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77"/>
              </a:lnSpc>
            </a:pPr>
            <a:r>
              <a:rPr lang="en-US" sz="5836" b="1" dirty="0">
                <a:solidFill>
                  <a:srgbClr val="AFE1EA"/>
                </a:solidFill>
                <a:latin typeface="TT Octosquares Bold"/>
                <a:ea typeface="TT Octosquares Bold"/>
                <a:cs typeface="TT Octosquares Bold"/>
                <a:sym typeface="TT Octosquares Bold"/>
              </a:rPr>
              <a:t>Demo &amp; Takeaways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590" y="3254947"/>
            <a:ext cx="7089902" cy="53937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522" y="4914900"/>
            <a:ext cx="6642371" cy="49922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9" name="Elbow Connector 28"/>
          <p:cNvCxnSpPr/>
          <p:nvPr/>
        </p:nvCxnSpPr>
        <p:spPr>
          <a:xfrm>
            <a:off x="7371695" y="5412662"/>
            <a:ext cx="3051213" cy="1600200"/>
          </a:xfrm>
          <a:prstGeom prst="bentConnector3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/>
          <p:cNvCxnSpPr/>
          <p:nvPr/>
        </p:nvCxnSpPr>
        <p:spPr>
          <a:xfrm rot="16200000" flipH="1">
            <a:off x="11391831" y="6781731"/>
            <a:ext cx="878570" cy="874167"/>
          </a:xfrm>
          <a:prstGeom prst="bentConnector3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/>
          <p:nvPr/>
        </p:nvCxnSpPr>
        <p:spPr>
          <a:xfrm rot="5400000">
            <a:off x="11812054" y="8326498"/>
            <a:ext cx="667343" cy="244950"/>
          </a:xfrm>
          <a:prstGeom prst="bentConnector3">
            <a:avLst>
              <a:gd name="adj1" fmla="val 50000"/>
            </a:avLst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/>
          <p:nvPr/>
        </p:nvCxnSpPr>
        <p:spPr>
          <a:xfrm rot="5400000" flipH="1" flipV="1">
            <a:off x="12676082" y="8199925"/>
            <a:ext cx="743545" cy="574296"/>
          </a:xfrm>
          <a:prstGeom prst="bentConnector3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6953" y="3590310"/>
            <a:ext cx="11650404" cy="2469453"/>
          </a:xfrm>
        </p:spPr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6953" y="6059759"/>
            <a:ext cx="11650404" cy="1645349"/>
          </a:xfrm>
        </p:spPr>
        <p:txBody>
          <a:bodyPr/>
          <a:lstStyle/>
          <a:p>
            <a:endParaRPr lang="en-IN"/>
          </a:p>
        </p:txBody>
      </p:sp>
      <p:sp>
        <p:nvSpPr>
          <p:cNvPr id="4" name="Freeform 2"/>
          <p:cNvSpPr/>
          <p:nvPr/>
        </p:nvSpPr>
        <p:spPr>
          <a:xfrm>
            <a:off x="-13648" y="-1649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5" name="Freeform 3"/>
          <p:cNvSpPr/>
          <p:nvPr/>
        </p:nvSpPr>
        <p:spPr>
          <a:xfrm>
            <a:off x="838200" y="647700"/>
            <a:ext cx="16179533" cy="12149359"/>
          </a:xfrm>
          <a:custGeom>
            <a:avLst/>
            <a:gdLst/>
            <a:ahLst/>
            <a:cxnLst/>
            <a:rect l="l" t="t" r="r" b="b"/>
            <a:pathLst>
              <a:path w="16179533" h="12149359">
                <a:moveTo>
                  <a:pt x="0" y="0"/>
                </a:moveTo>
                <a:lnTo>
                  <a:pt x="16179533" y="0"/>
                </a:lnTo>
                <a:lnTo>
                  <a:pt x="16179533" y="12149359"/>
                </a:lnTo>
                <a:lnTo>
                  <a:pt x="0" y="12149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853752" y="1390967"/>
            <a:ext cx="9220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Bernard MT Condensed" panose="02050806060905020404" pitchFamily="18" charset="0"/>
              </a:rPr>
              <a:t>Future scope &amp; Impact</a:t>
            </a:r>
            <a:endParaRPr lang="en-IN" sz="6600" dirty="0">
              <a:solidFill>
                <a:schemeClr val="tx2">
                  <a:lumMod val="20000"/>
                  <a:lumOff val="80000"/>
                </a:schemeClr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46953" y="2859505"/>
            <a:ext cx="6477000" cy="640080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>
                <a:solidFill>
                  <a:srgbClr val="FFFF00"/>
                </a:solidFill>
                <a:latin typeface="fkGrotesk"/>
              </a:rPr>
              <a:t>Future 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bg1"/>
                </a:solidFill>
                <a:latin typeface="fkGroteskNeue"/>
              </a:rPr>
              <a:t>Support for multiple languages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bg1"/>
                </a:solidFill>
                <a:latin typeface="fkGroteskNeue"/>
              </a:rPr>
              <a:t>Integration with e-commerce platforms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bg1"/>
                </a:solidFill>
                <a:latin typeface="fkGroteskNeue"/>
              </a:rPr>
              <a:t>Real-time dashboards and 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chemeClr val="bg1"/>
                </a:solidFill>
                <a:latin typeface="fkGroteskNeue"/>
              </a:rPr>
              <a:t>Automated continuous model updates</a:t>
            </a:r>
            <a:endParaRPr lang="en-GB" sz="3200" b="1" i="0" dirty="0">
              <a:solidFill>
                <a:schemeClr val="bg1"/>
              </a:solidFill>
              <a:effectLst/>
              <a:latin typeface="fkGroteskNeue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392506" y="2857500"/>
            <a:ext cx="6609493" cy="640280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600" b="1" dirty="0" smtClean="0">
                <a:solidFill>
                  <a:srgbClr val="FFFF00"/>
                </a:solidFill>
                <a:latin typeface="fkGrotesk"/>
              </a:rPr>
              <a:t>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 smtClean="0">
                <a:solidFill>
                  <a:schemeClr val="bg1"/>
                </a:solidFill>
                <a:latin typeface="fkGroteskNeue"/>
              </a:rPr>
              <a:t>Faster, smarter business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 smtClean="0">
                <a:solidFill>
                  <a:schemeClr val="bg1"/>
                </a:solidFill>
                <a:latin typeface="fkGroteskNeue"/>
              </a:rPr>
              <a:t>Enhanced </a:t>
            </a:r>
            <a:r>
              <a:rPr lang="en-GB" sz="2800" b="1" dirty="0">
                <a:solidFill>
                  <a:schemeClr val="bg1"/>
                </a:solidFill>
                <a:latin typeface="fkGroteskNeue"/>
              </a:rPr>
              <a:t>buyer trust and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bg1"/>
                </a:solidFill>
                <a:latin typeface="fkGroteskNeue"/>
              </a:rPr>
              <a:t>Saves time with automated review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bg1"/>
                </a:solidFill>
                <a:latin typeface="fkGroteskNeue"/>
              </a:rPr>
              <a:t>Improves product quality through feedback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bg1"/>
                </a:solidFill>
                <a:latin typeface="fkGroteskNeue"/>
              </a:rPr>
              <a:t>Scalable for various industries and </a:t>
            </a:r>
            <a:r>
              <a:rPr lang="en-GB" sz="2800" b="1" dirty="0" err="1" smtClean="0">
                <a:solidFill>
                  <a:schemeClr val="bg1"/>
                </a:solidFill>
                <a:latin typeface="fkGroteskNeue"/>
              </a:rPr>
              <a:t>domaiAns</a:t>
            </a:r>
            <a:endParaRPr lang="en-GB" sz="2800" b="1" i="0" dirty="0">
              <a:solidFill>
                <a:schemeClr val="bg1"/>
              </a:solidFill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9203582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5495686"/>
            <a:ext cx="3240528" cy="3350169"/>
          </a:xfrm>
          <a:custGeom>
            <a:avLst/>
            <a:gdLst/>
            <a:ahLst/>
            <a:cxnLst/>
            <a:rect l="l" t="t" r="r" b="b"/>
            <a:pathLst>
              <a:path w="3240528" h="3350169">
                <a:moveTo>
                  <a:pt x="0" y="0"/>
                </a:moveTo>
                <a:lnTo>
                  <a:pt x="3240528" y="0"/>
                </a:lnTo>
                <a:lnTo>
                  <a:pt x="3240528" y="3350169"/>
                </a:lnTo>
                <a:lnTo>
                  <a:pt x="0" y="3350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515599" y="2418768"/>
            <a:ext cx="635143" cy="635143"/>
          </a:xfrm>
          <a:custGeom>
            <a:avLst/>
            <a:gdLst/>
            <a:ahLst/>
            <a:cxnLst/>
            <a:rect l="l" t="t" r="r" b="b"/>
            <a:pathLst>
              <a:path w="635143" h="635143">
                <a:moveTo>
                  <a:pt x="0" y="0"/>
                </a:moveTo>
                <a:lnTo>
                  <a:pt x="635143" y="0"/>
                </a:lnTo>
                <a:lnTo>
                  <a:pt x="635143" y="635143"/>
                </a:lnTo>
                <a:lnTo>
                  <a:pt x="0" y="6351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01066" y="3930841"/>
            <a:ext cx="10778304" cy="1263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36"/>
              </a:lnSpc>
            </a:pPr>
            <a:r>
              <a:rPr lang="en-US" sz="8861" b="1">
                <a:solidFill>
                  <a:srgbClr val="AFE1EA"/>
                </a:solidFill>
                <a:latin typeface="TT Octosquares Bold"/>
                <a:ea typeface="TT Octosquares Bold"/>
                <a:cs typeface="TT Octosquares Bold"/>
                <a:sym typeface="TT Octosquares Bold"/>
              </a:rPr>
              <a:t>THANK YOU!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41408" y="2690350"/>
            <a:ext cx="2568278" cy="36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3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IBM</a:t>
            </a:r>
            <a:endParaRPr lang="en-US" sz="3200" b="1" dirty="0">
              <a:solidFill>
                <a:srgbClr val="AFE1EA"/>
              </a:solidFill>
              <a:latin typeface="TT Lakes Neue"/>
              <a:ea typeface="TT Lakes Neue"/>
              <a:cs typeface="TT Lakes Neue"/>
              <a:sym typeface="TT Lakes Neu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525884" y="5691854"/>
            <a:ext cx="7236233" cy="613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2333" i="1">
                <a:solidFill>
                  <a:srgbClr val="AFE1EA"/>
                </a:solidFill>
                <a:latin typeface="TT Lakes Neue Italics"/>
                <a:ea typeface="TT Lakes Neue Italics"/>
                <a:cs typeface="TT Lakes Neue Italics"/>
                <a:sym typeface="TT Lakes Neue Italics"/>
              </a:rPr>
              <a:t>Thank you for joining us on this journey through AI innovation and possibilities.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70750" y="8268060"/>
            <a:ext cx="3238936" cy="27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"/>
              </a:lnSpc>
              <a:spcBef>
                <a:spcPct val="0"/>
              </a:spcBef>
            </a:pPr>
            <a:r>
              <a:rPr lang="en-US" sz="2035" dirty="0">
                <a:solidFill>
                  <a:srgbClr val="000000"/>
                </a:solidFill>
                <a:latin typeface="TT Lakes Neue"/>
                <a:ea typeface="TT Lakes Neue"/>
                <a:cs typeface="TT Lakes Neue"/>
                <a:sym typeface="TT Lakes Neue"/>
              </a:rPr>
              <a:t>www.reallygreatsite.com</a:t>
            </a:r>
          </a:p>
        </p:txBody>
      </p:sp>
      <p:sp>
        <p:nvSpPr>
          <p:cNvPr id="11" name="TextBox 11"/>
          <p:cNvSpPr txBox="1"/>
          <p:nvPr/>
        </p:nvSpPr>
        <p:spPr>
          <a:xfrm rot="5400000">
            <a:off x="17191359" y="1440223"/>
            <a:ext cx="1030504" cy="20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  <a:spcBef>
                <a:spcPct val="0"/>
              </a:spcBef>
            </a:pPr>
            <a:r>
              <a:rPr lang="en-US" sz="1525">
                <a:solidFill>
                  <a:srgbClr val="AFE1EA"/>
                </a:solidFill>
                <a:latin typeface="TT Lakes Neue"/>
                <a:ea typeface="TT Lakes Neue"/>
                <a:cs typeface="TT Lakes Neue"/>
                <a:sym typeface="TT Lakes Neue"/>
              </a:rPr>
              <a:t>Slide 13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520451" y="5833954"/>
            <a:ext cx="2524895" cy="2524895"/>
            <a:chOff x="0" y="0"/>
            <a:chExt cx="14840029" cy="14840029"/>
          </a:xfrm>
        </p:grpSpPr>
        <p:sp>
          <p:nvSpPr>
            <p:cNvPr id="13" name="Freeform 13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AFE1EA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9"/>
              <a:stretch>
                <a:fillRect l="-24572" r="-24572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13463178" y="743684"/>
            <a:ext cx="3240528" cy="3350169"/>
          </a:xfrm>
          <a:custGeom>
            <a:avLst/>
            <a:gdLst/>
            <a:ahLst/>
            <a:cxnLst/>
            <a:rect l="l" t="t" r="r" b="b"/>
            <a:pathLst>
              <a:path w="3240528" h="3350169">
                <a:moveTo>
                  <a:pt x="0" y="0"/>
                </a:moveTo>
                <a:lnTo>
                  <a:pt x="3240528" y="0"/>
                </a:lnTo>
                <a:lnTo>
                  <a:pt x="3240528" y="3350169"/>
                </a:lnTo>
                <a:lnTo>
                  <a:pt x="0" y="3350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3954929" y="1081952"/>
            <a:ext cx="2524895" cy="2524895"/>
            <a:chOff x="0" y="0"/>
            <a:chExt cx="14840029" cy="14840029"/>
          </a:xfrm>
        </p:grpSpPr>
        <p:sp>
          <p:nvSpPr>
            <p:cNvPr id="18" name="Freeform 18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AFE1EA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10"/>
              <a:stretch>
                <a:fillRect l="-24712" r="-24712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203</TotalTime>
  <Words>234</Words>
  <Application>Microsoft Office PowerPoint</Application>
  <PresentationFormat>Custom</PresentationFormat>
  <Paragraphs>59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Arial Narrow</vt:lpstr>
      <vt:lpstr>Calibri</vt:lpstr>
      <vt:lpstr>fkGroteskNeue</vt:lpstr>
      <vt:lpstr>Wingdings</vt:lpstr>
      <vt:lpstr>TT Lakes Neue</vt:lpstr>
      <vt:lpstr>Bernard MT Condensed</vt:lpstr>
      <vt:lpstr>Arial</vt:lpstr>
      <vt:lpstr>Trebuchet MS</vt:lpstr>
      <vt:lpstr>fkGrotesk</vt:lpstr>
      <vt:lpstr>TT Octosquares Bold</vt:lpstr>
      <vt:lpstr>TT Lakes Neue Italics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Tech Modern Artificial Intelligence Presentation</dc:title>
  <dc:creator>Devanshu upadhyay</dc:creator>
  <cp:lastModifiedBy>Devanshu upadhyay</cp:lastModifiedBy>
  <cp:revision>14</cp:revision>
  <dcterms:created xsi:type="dcterms:W3CDTF">2006-08-16T00:00:00Z</dcterms:created>
  <dcterms:modified xsi:type="dcterms:W3CDTF">2025-09-26T13:16:01Z</dcterms:modified>
  <dc:identifier>DAGz_UQYYvg</dc:identifier>
</cp:coreProperties>
</file>